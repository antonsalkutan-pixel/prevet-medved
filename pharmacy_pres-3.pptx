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1B9C77">
              <a:alpha val="12000"/>
            </a:srgbClr>
          </a:solidFill>
          <a:ln w="12700">
            <a:solidFill>
              <a:srgbClr val="1B9C7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2560320" cy="2560320"/>
          </a:xfrm>
          <a:prstGeom prst="ellipse">
            <a:avLst/>
          </a:prstGeom>
          <a:solidFill>
            <a:srgbClr val="F0A500">
              <a:alpha val="10000"/>
            </a:srgbClr>
          </a:solidFill>
          <a:ln w="12700">
            <a:solidFill>
              <a:srgbClr val="F0A500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«Аптечный склад»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2606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F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Автоматизированная информационная система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F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управления аптечным складом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3584448"/>
            <a:ext cx="3200400" cy="36576"/>
          </a:xfrm>
          <a:prstGeom prst="rect">
            <a:avLst/>
          </a:prstGeom>
          <a:solidFill>
            <a:srgbClr val="27AE78"/>
          </a:solidFill>
          <a:ln w="12700">
            <a:solidFill>
              <a:srgbClr val="27AE7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794760"/>
            <a:ext cx="1874520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7AE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794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14600" y="3794760"/>
            <a:ext cx="1874520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7AE7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14600" y="3794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3794760"/>
            <a:ext cx="1874520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7AE7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3794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JDBC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29400" y="3794760"/>
            <a:ext cx="1874520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7AE7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0" y="3794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Дипломный проект · Государственный университет Молдовы ·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2"/>
          </a:solidFill>
          <a:ln w="12700">
            <a:solidFill>
              <a:srgbClr val="1A2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нужна эта система?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566160"/>
          </a:xfrm>
          <a:prstGeom prst="rect">
            <a:avLst/>
          </a:prstGeom>
          <a:solidFill>
            <a:srgbClr val="FFF3F3"/>
          </a:solidFill>
          <a:ln w="12700">
            <a:solidFill>
              <a:srgbClr val="E8BBB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384048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5564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учёт медикаментов — медленно и ошибочно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23744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6888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отслеживать остатки на складе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82112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единой базы данных с дозировками и формами выпуска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5020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9534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потери информации при бумажном документообороте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4114800" cy="3566160"/>
          </a:xfrm>
          <a:prstGeom prst="rect">
            <a:avLst/>
          </a:prstGeom>
          <a:solidFill>
            <a:srgbClr val="EBF5F0"/>
          </a:solidFill>
          <a:ln w="12700">
            <a:solidFill>
              <a:srgbClr val="A8D8C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43000"/>
            <a:ext cx="4114800" cy="502920"/>
          </a:xfrm>
          <a:prstGeom prst="rect">
            <a:avLst/>
          </a:prstGeom>
          <a:solidFill>
            <a:srgbClr val="1B9C77"/>
          </a:solidFill>
          <a:ln w="12700">
            <a:solidFill>
              <a:srgbClr val="1B9C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— АИС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801368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166360" y="175564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Централизованная база данных медикаментов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51460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66360" y="246888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поиск по названию, дозе, форме выпуска</a:t>
            </a:r>
            <a:endParaRPr lang="en-US" sz="1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227832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66360" y="318211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CRUD: добавление, изменение, удаление записей</a:t>
            </a:r>
            <a:endParaRPr lang="en-US" sz="12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94106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66360" y="389534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Надёжное хранение данных в MySQL + Spring Boot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2"/>
          </a:solidFill>
          <a:ln w="12700">
            <a:solidFill>
              <a:srgbClr val="1A2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умеет система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9C77"/>
          </a:solidFill>
          <a:ln w="12700">
            <a:solidFill>
              <a:srgbClr val="1B9C7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2148840"/>
            <a:ext cx="1005840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371600"/>
            <a:ext cx="2468880" cy="1371600"/>
          </a:xfrm>
          <a:prstGeom prst="rect">
            <a:avLst/>
          </a:prstGeom>
          <a:solidFill>
            <a:srgbClr val="EBF5F0"/>
          </a:solidFill>
          <a:ln w="12700">
            <a:solidFill>
              <a:srgbClr val="A8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002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463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60120" y="181051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всех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медикаментов на складе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766560" y="1371600"/>
            <a:ext cx="2468880" cy="1371600"/>
          </a:xfrm>
          <a:prstGeom prst="rect">
            <a:avLst/>
          </a:prstGeom>
          <a:solidFill>
            <a:srgbClr val="EBF5F0"/>
          </a:solidFill>
          <a:ln w="12700">
            <a:solidFill>
              <a:srgbClr val="A8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6002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52360" y="1463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452360" y="181051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нового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медикамента в базе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274320" y="3017520"/>
            <a:ext cx="2468880" cy="1371600"/>
          </a:xfrm>
          <a:prstGeom prst="rect">
            <a:avLst/>
          </a:prstGeom>
          <a:solidFill>
            <a:srgbClr val="EBF5F0"/>
          </a:solidFill>
          <a:ln w="12700">
            <a:solidFill>
              <a:srgbClr val="A8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24612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1089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Редактирование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960120" y="345643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данных: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доза, форма, название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766560" y="3017520"/>
            <a:ext cx="2468880" cy="1371600"/>
          </a:xfrm>
          <a:prstGeom prst="rect">
            <a:avLst/>
          </a:prstGeom>
          <a:solidFill>
            <a:srgbClr val="EBF5F0"/>
          </a:solidFill>
          <a:ln w="12700">
            <a:solidFill>
              <a:srgbClr val="A8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324612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452360" y="31089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7452360" y="345643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записи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идентификатору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2788920" y="2578608"/>
            <a:ext cx="987552" cy="36576"/>
          </a:xfrm>
          <a:prstGeom prst="rect">
            <a:avLst/>
          </a:prstGeom>
          <a:solidFill>
            <a:srgbClr val="27AE78">
              <a:alpha val="60000"/>
            </a:srgbClr>
          </a:solidFill>
          <a:ln w="12700">
            <a:solidFill>
              <a:srgbClr val="27AE78">
                <a:alpha val="6000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5376672" y="2578608"/>
            <a:ext cx="1389888" cy="36576"/>
          </a:xfrm>
          <a:prstGeom prst="rect">
            <a:avLst/>
          </a:prstGeom>
          <a:solidFill>
            <a:srgbClr val="27AE78">
              <a:alpha val="60000"/>
            </a:srgbClr>
          </a:solidFill>
          <a:ln w="12700">
            <a:solidFill>
              <a:srgbClr val="27AE78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2"/>
          </a:solidFill>
          <a:ln w="12700">
            <a:solidFill>
              <a:srgbClr val="1A2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хранит система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657600" cy="3657600"/>
          </a:xfrm>
          <a:prstGeom prst="rect">
            <a:avLst/>
          </a:prstGeom>
          <a:solidFill>
            <a:srgbClr val="1A2C42"/>
          </a:solidFill>
          <a:ln w="12700">
            <a:solidFill>
              <a:srgbClr val="1A2C4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371600"/>
            <a:ext cx="1645920" cy="1645920"/>
          </a:xfrm>
          <a:prstGeom prst="ellipse">
            <a:avLst/>
          </a:prstGeom>
          <a:solidFill>
            <a:srgbClr val="1B9C77"/>
          </a:solidFill>
          <a:ln w="12700">
            <a:solidFill>
              <a:srgbClr val="1B9C7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9164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154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Медикамент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35478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сущность системы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0" y="1143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 записи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0" y="1645920"/>
            <a:ext cx="4160520" cy="658368"/>
          </a:xfrm>
          <a:prstGeom prst="rect">
            <a:avLst/>
          </a:prstGeom>
          <a:solidFill>
            <a:srgbClr val="FFFBF0"/>
          </a:solidFill>
          <a:ln w="12700">
            <a:solidFill>
              <a:srgbClr val="E8D08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645920"/>
            <a:ext cx="1005840" cy="658368"/>
          </a:xfrm>
          <a:prstGeom prst="rect">
            <a:avLst/>
          </a:prstGeom>
          <a:solidFill>
            <a:srgbClr val="F0A500">
              <a:alpha val="85000"/>
            </a:srgbClr>
          </a:solidFill>
          <a:ln w="12700">
            <a:solidFill>
              <a:srgbClr val="F0A500">
                <a:alpha val="8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1673352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69280" y="16916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Уникальный номер записи (автоматически)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0" y="2423160"/>
            <a:ext cx="4160520" cy="658368"/>
          </a:xfrm>
          <a:prstGeom prst="rect">
            <a:avLst/>
          </a:prstGeom>
          <a:solidFill>
            <a:srgbClr val="EBF5F0"/>
          </a:solidFill>
          <a:ln w="12700">
            <a:solidFill>
              <a:srgbClr val="A8D8C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2423160"/>
            <a:ext cx="1005840" cy="658368"/>
          </a:xfrm>
          <a:prstGeom prst="rect">
            <a:avLst/>
          </a:prstGeom>
          <a:solidFill>
            <a:srgbClr val="1B9C77">
              <a:alpha val="85000"/>
            </a:srgbClr>
          </a:solidFill>
          <a:ln w="12700">
            <a:solidFill>
              <a:srgbClr val="1B9C77">
                <a:alpha val="8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17720" y="2450592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0" y="246888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Наименование медикамента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0" y="3200400"/>
            <a:ext cx="4160520" cy="658368"/>
          </a:xfrm>
          <a:prstGeom prst="rect">
            <a:avLst/>
          </a:prstGeom>
          <a:solidFill>
            <a:srgbClr val="EBF5F0"/>
          </a:solidFill>
          <a:ln w="12700">
            <a:solidFill>
              <a:srgbClr val="A8D8C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0" y="3200400"/>
            <a:ext cx="1005840" cy="658368"/>
          </a:xfrm>
          <a:prstGeom prst="rect">
            <a:avLst/>
          </a:prstGeom>
          <a:solidFill>
            <a:srgbClr val="1B9C77">
              <a:alpha val="85000"/>
            </a:srgbClr>
          </a:solidFill>
          <a:ln w="12700">
            <a:solidFill>
              <a:srgbClr val="1B9C77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17720" y="3227832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Дозировка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69280" y="324612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Доза препарата (напр. «500 мг»)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0" y="3977640"/>
            <a:ext cx="4160520" cy="658368"/>
          </a:xfrm>
          <a:prstGeom prst="rect">
            <a:avLst/>
          </a:prstGeom>
          <a:solidFill>
            <a:srgbClr val="EBF5F0"/>
          </a:solidFill>
          <a:ln w="12700">
            <a:solidFill>
              <a:srgbClr val="A8D8C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0" y="3977640"/>
            <a:ext cx="1005840" cy="658368"/>
          </a:xfrm>
          <a:prstGeom prst="rect">
            <a:avLst/>
          </a:prstGeom>
          <a:solidFill>
            <a:srgbClr val="1B9C77">
              <a:alpha val="85000"/>
            </a:srgbClr>
          </a:solidFill>
          <a:ln w="12700">
            <a:solidFill>
              <a:srgbClr val="1B9C77">
                <a:alpha val="8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17720" y="4005072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выпуска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669280" y="402336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Таблетки, капсулы, раствор и др.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2"/>
          </a:solidFill>
          <a:ln w="12700">
            <a:solidFill>
              <a:srgbClr val="1A2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 проекта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60520" cy="1078992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64592" cy="1078992"/>
          </a:xfrm>
          <a:prstGeom prst="rect">
            <a:avLst/>
          </a:prstGeom>
          <a:solidFill>
            <a:srgbClr val="3B7DD8"/>
          </a:solidFill>
          <a:ln w="12700">
            <a:solidFill>
              <a:srgbClr val="3B7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61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15727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 программирования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8105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Современная LTS-версия, поддержка записей и текстовых блоков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4160520" cy="1078992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23160"/>
            <a:ext cx="164592" cy="1078992"/>
          </a:xfrm>
          <a:prstGeom prst="rect">
            <a:avLst/>
          </a:prstGeom>
          <a:solidFill>
            <a:srgbClr val="1B9C77"/>
          </a:solidFill>
          <a:ln w="12700">
            <a:solidFill>
              <a:srgbClr val="1B9C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496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" y="28072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фреймворк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30449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Авто-конфигурация, встроенный Tomcat, минимальный boilerplate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60520" cy="1078992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57600"/>
            <a:ext cx="164592" cy="1078992"/>
          </a:xfrm>
          <a:prstGeom prst="rect">
            <a:avLst/>
          </a:prstGeom>
          <a:solidFill>
            <a:srgbClr val="27AE78"/>
          </a:solidFill>
          <a:ln w="12700">
            <a:solidFill>
              <a:srgbClr val="27A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730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JDBC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" y="40416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базе данных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" y="42793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JdbcTemplate и RowMapper — простая работа с SQL без JPA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4160520" cy="1078992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188720"/>
            <a:ext cx="164592" cy="10789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1261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02352" y="15727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Реляционная база данных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02352" y="18105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Надёжное хранение, schema.sql инициализируется при запуске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423160"/>
            <a:ext cx="4160520" cy="1078992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423160"/>
            <a:ext cx="164592" cy="10789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2496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02352" y="28072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Упрощение кода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02352" y="30449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@Data, @RequiredArgsConstructor — меньше повторяющегося кода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657600"/>
            <a:ext cx="4160520" cy="1078992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57600"/>
            <a:ext cx="164592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3730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02352" y="40416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проекта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02352" y="42793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Parent POM — управление зависимостями одной строкой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2"/>
          </a:solidFill>
          <a:ln w="12700">
            <a:solidFill>
              <a:srgbClr val="1A2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устроена система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6858000" cy="749808"/>
          </a:xfrm>
          <a:prstGeom prst="rect">
            <a:avLst/>
          </a:prstGeom>
          <a:solidFill>
            <a:srgbClr val="3B7DD8">
              <a:alpha val="85000"/>
            </a:srgbClr>
          </a:solidFill>
          <a:ln w="12700">
            <a:solidFill>
              <a:srgbClr val="3B7D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98448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197864"/>
            <a:ext cx="6080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/ HTTP-запрос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51560" y="1508760"/>
            <a:ext cx="6080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Обращается к системе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85032" y="1901952"/>
            <a:ext cx="201168" cy="20116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2093976"/>
            <a:ext cx="5943600" cy="749808"/>
          </a:xfrm>
          <a:prstGeom prst="rect">
            <a:avLst/>
          </a:prstGeom>
          <a:solidFill>
            <a:srgbClr val="1B9C77">
              <a:alpha val="80000"/>
            </a:srgbClr>
          </a:solidFill>
          <a:ln w="12700">
            <a:solidFill>
              <a:srgbClr val="1B9C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24942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148840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(интерфейс)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508760" y="2459736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Определяет список операций: что делать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85032" y="2852928"/>
            <a:ext cx="201168" cy="20116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280160" y="3044952"/>
            <a:ext cx="5029200" cy="749808"/>
          </a:xfrm>
          <a:prstGeom prst="rect">
            <a:avLst/>
          </a:prstGeom>
          <a:solidFill>
            <a:srgbClr val="27AE78">
              <a:alpha val="80000"/>
            </a:srgbClr>
          </a:solidFill>
          <a:ln w="12700">
            <a:solidFill>
              <a:srgbClr val="27AE7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200400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65960" y="3099816"/>
            <a:ext cx="4251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репозитория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65960" y="3410712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JdbcTemplate выполняет SQL-запросы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85032" y="3803904"/>
            <a:ext cx="201168" cy="20116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737360" y="3995928"/>
            <a:ext cx="4114800" cy="749808"/>
          </a:xfrm>
          <a:prstGeom prst="rect">
            <a:avLst/>
          </a:prstGeom>
          <a:solidFill>
            <a:srgbClr val="F0A500">
              <a:alpha val="90000"/>
            </a:srgbClr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20" y="4151376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423160" y="4050792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 MySQL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2423160" y="436168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 таблицу medications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7452360" y="1143000"/>
            <a:ext cx="1417320" cy="3657600"/>
          </a:xfrm>
          <a:prstGeom prst="rect">
            <a:avLst/>
          </a:prstGeom>
          <a:solidFill>
            <a:srgbClr val="EBF5F0"/>
          </a:solidFill>
          <a:ln w="12700">
            <a:solidFill>
              <a:srgbClr val="A8D8C4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498080" y="12344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Разделение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слои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498080" y="18745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знает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БД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7498080" y="2587752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отделён от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реализации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498080" y="3300984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скрыт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слоя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7498080" y="4014216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хранятся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2"/>
          </a:solidFill>
          <a:ln w="12700">
            <a:solidFill>
              <a:srgbClr val="1A2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работы системы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02920" cy="502920"/>
          </a:xfrm>
          <a:prstGeom prst="ellipse">
            <a:avLst/>
          </a:prstGeom>
          <a:solidFill>
            <a:srgbClr val="1B9C77"/>
          </a:solidFill>
          <a:ln w="12700">
            <a:solidFill>
              <a:srgbClr val="1B9C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36576" cy="2560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170432"/>
            <a:ext cx="7680960" cy="594360"/>
          </a:xfrm>
          <a:prstGeom prst="rect">
            <a:avLst/>
          </a:prstGeom>
          <a:solidFill>
            <a:srgbClr val="EBF5F0"/>
          </a:solidFill>
          <a:ln w="12700">
            <a:solidFill>
              <a:srgbClr val="D8ED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34440" y="11978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1197864"/>
            <a:ext cx="5897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отправляет HTTP-запрос (например, добавить медикамент)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51760" y="1234440"/>
            <a:ext cx="27432" cy="438912"/>
          </a:xfrm>
          <a:prstGeom prst="rect">
            <a:avLst/>
          </a:prstGeom>
          <a:solidFill>
            <a:srgbClr val="27AE78">
              <a:alpha val="50000"/>
            </a:srgbClr>
          </a:solidFill>
          <a:ln w="12700">
            <a:solidFill>
              <a:srgbClr val="27AE78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38528"/>
            <a:ext cx="502920" cy="502920"/>
          </a:xfrm>
          <a:prstGeom prst="ellipse">
            <a:avLst/>
          </a:prstGeom>
          <a:solidFill>
            <a:srgbClr val="1B9C77"/>
          </a:solidFill>
          <a:ln w="12700">
            <a:solidFill>
              <a:srgbClr val="1B9C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38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2441448"/>
            <a:ext cx="36576" cy="2560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1920240"/>
            <a:ext cx="7680960" cy="594360"/>
          </a:xfrm>
          <a:prstGeom prst="rect">
            <a:avLst/>
          </a:prstGeom>
          <a:solidFill>
            <a:srgbClr val="F8F8F8"/>
          </a:solidFill>
          <a:ln w="12700">
            <a:solidFill>
              <a:srgbClr val="D8ED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34440" y="19476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1947672"/>
            <a:ext cx="5897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обращается к методу save() интерфейса MedicationRepository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51760" y="1984248"/>
            <a:ext cx="27432" cy="438912"/>
          </a:xfrm>
          <a:prstGeom prst="rect">
            <a:avLst/>
          </a:prstGeom>
          <a:solidFill>
            <a:srgbClr val="27AE78">
              <a:alpha val="50000"/>
            </a:srgbClr>
          </a:solidFill>
          <a:ln w="12700">
            <a:solidFill>
              <a:srgbClr val="27AE78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688336"/>
            <a:ext cx="502920" cy="502920"/>
          </a:xfrm>
          <a:prstGeom prst="ellipse">
            <a:avLst/>
          </a:prstGeom>
          <a:solidFill>
            <a:srgbClr val="1B9C77"/>
          </a:solidFill>
          <a:ln w="12700">
            <a:solidFill>
              <a:srgbClr val="1B9C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88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6928" y="3191256"/>
            <a:ext cx="36576" cy="2560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2670048"/>
            <a:ext cx="7680960" cy="594360"/>
          </a:xfrm>
          <a:prstGeom prst="rect">
            <a:avLst/>
          </a:prstGeom>
          <a:solidFill>
            <a:srgbClr val="EBF5F0"/>
          </a:solidFill>
          <a:ln w="12700">
            <a:solidFill>
              <a:srgbClr val="D8ED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234440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SQL-запрос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2697480"/>
            <a:ext cx="5897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JdbcTemplate формирует INSERT и отправляет в MySQL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51760" y="2734056"/>
            <a:ext cx="27432" cy="438912"/>
          </a:xfrm>
          <a:prstGeom prst="rect">
            <a:avLst/>
          </a:prstGeom>
          <a:solidFill>
            <a:srgbClr val="27AE78">
              <a:alpha val="50000"/>
            </a:srgbClr>
          </a:solidFill>
          <a:ln w="12700">
            <a:solidFill>
              <a:srgbClr val="27AE78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438144"/>
            <a:ext cx="502920" cy="502920"/>
          </a:xfrm>
          <a:prstGeom prst="ellipse">
            <a:avLst/>
          </a:prstGeom>
          <a:solidFill>
            <a:srgbClr val="1B9C77"/>
          </a:solidFill>
          <a:ln w="12700">
            <a:solidFill>
              <a:srgbClr val="1B9C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438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66928" y="3941064"/>
            <a:ext cx="36576" cy="2560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7280" y="3419856"/>
            <a:ext cx="7680960" cy="594360"/>
          </a:xfrm>
          <a:prstGeom prst="rect">
            <a:avLst/>
          </a:prstGeom>
          <a:solidFill>
            <a:srgbClr val="F8F8F8"/>
          </a:solidFill>
          <a:ln w="12700">
            <a:solidFill>
              <a:srgbClr val="D8ED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234440" y="34472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0" y="3447288"/>
            <a:ext cx="5897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сохраняет запись в таблице medications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651760" y="3483864"/>
            <a:ext cx="27432" cy="438912"/>
          </a:xfrm>
          <a:prstGeom prst="rect">
            <a:avLst/>
          </a:prstGeom>
          <a:solidFill>
            <a:srgbClr val="27AE78">
              <a:alpha val="50000"/>
            </a:srgbClr>
          </a:solidFill>
          <a:ln w="12700">
            <a:solidFill>
              <a:srgbClr val="27AE78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187952"/>
            <a:ext cx="502920" cy="5029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097280" y="4169664"/>
            <a:ext cx="7680960" cy="594360"/>
          </a:xfrm>
          <a:prstGeom prst="rect">
            <a:avLst/>
          </a:prstGeom>
          <a:solidFill>
            <a:srgbClr val="EBF5F0"/>
          </a:solidFill>
          <a:ln w="12700">
            <a:solidFill>
              <a:srgbClr val="D8ED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234440" y="419709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0" y="4197096"/>
            <a:ext cx="5897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возвращает подтверждение пользователю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651760" y="4233672"/>
            <a:ext cx="27432" cy="438912"/>
          </a:xfrm>
          <a:prstGeom prst="rect">
            <a:avLst/>
          </a:prstGeom>
          <a:solidFill>
            <a:srgbClr val="27AE78">
              <a:alpha val="50000"/>
            </a:srgbClr>
          </a:solidFill>
          <a:ln w="12700">
            <a:solidFill>
              <a:srgbClr val="27AE78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709160"/>
            <a:ext cx="8412480" cy="182880"/>
          </a:xfrm>
          <a:prstGeom prst="rect">
            <a:avLst/>
          </a:prstGeom>
          <a:solidFill>
            <a:srgbClr val="EBF5F0"/>
          </a:solidFill>
          <a:ln w="12700">
            <a:solidFill>
              <a:srgbClr val="A8D8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6817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процесс: от запроса до базы данных — автоматически, надёжно, без ручного вмешательства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5486400" cy="5486400"/>
          </a:xfrm>
          <a:prstGeom prst="ellipse">
            <a:avLst/>
          </a:prstGeom>
          <a:solidFill>
            <a:srgbClr val="1B9C77">
              <a:alpha val="8000"/>
            </a:srgbClr>
          </a:solidFill>
          <a:ln w="12700">
            <a:solidFill>
              <a:srgbClr val="1B9C77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0A500">
              <a:alpha val="8000"/>
            </a:srgbClr>
          </a:solidFill>
          <a:ln w="12700">
            <a:solidFill>
              <a:srgbClr val="F0A500">
                <a:alpha val="1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работы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960120"/>
          </a:xfrm>
          <a:prstGeom prst="rect">
            <a:avLst/>
          </a:prstGeom>
          <a:solidFill>
            <a:srgbClr val="1A2C42"/>
          </a:solidFill>
          <a:ln w="12700">
            <a:solidFill>
              <a:srgbClr val="1B9C77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26464"/>
            <a:ext cx="475488" cy="475488"/>
          </a:xfrm>
          <a:prstGeom prst="ellipse">
            <a:avLst/>
          </a:prstGeom>
          <a:solidFill>
            <a:srgbClr val="1B9C77"/>
          </a:solidFill>
          <a:ln w="12700">
            <a:solidFill>
              <a:srgbClr val="1B9C7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4904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280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Спроектирована и реализована база данных медикаментов в MySQL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4160520" cy="960120"/>
          </a:xfrm>
          <a:prstGeom prst="rect">
            <a:avLst/>
          </a:prstGeom>
          <a:solidFill>
            <a:srgbClr val="1A2C42"/>
          </a:solidFill>
          <a:ln w="12700">
            <a:solidFill>
              <a:srgbClr val="1B9C77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426464"/>
            <a:ext cx="475488" cy="475488"/>
          </a:xfrm>
          <a:prstGeom prst="ellipse">
            <a:avLst/>
          </a:prstGeom>
          <a:solidFill>
            <a:srgbClr val="1B9C77"/>
          </a:solidFill>
          <a:ln w="12700">
            <a:solidFill>
              <a:srgbClr val="1B9C7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49047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04688" y="1280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Реализованы операции: просмотр, добавление, изменение, удаление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4320" y="2331720"/>
            <a:ext cx="4160520" cy="960120"/>
          </a:xfrm>
          <a:prstGeom prst="rect">
            <a:avLst/>
          </a:prstGeom>
          <a:solidFill>
            <a:srgbClr val="1A2C42"/>
          </a:solidFill>
          <a:ln w="12700">
            <a:solidFill>
              <a:srgbClr val="1B9C77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11480" y="2569464"/>
            <a:ext cx="475488" cy="475488"/>
          </a:xfrm>
          <a:prstGeom prst="ellipse">
            <a:avLst/>
          </a:prstGeom>
          <a:solidFill>
            <a:srgbClr val="1B9C77"/>
          </a:solidFill>
          <a:ln w="12700">
            <a:solidFill>
              <a:srgbClr val="1B9C7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63347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4128" y="2423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Применена многоуровневая архитектура с разделением ответственности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2331720"/>
            <a:ext cx="4160520" cy="960120"/>
          </a:xfrm>
          <a:prstGeom prst="rect">
            <a:avLst/>
          </a:prstGeom>
          <a:solidFill>
            <a:srgbClr val="1A2C42"/>
          </a:solidFill>
          <a:ln w="12700">
            <a:solidFill>
              <a:srgbClr val="1B9C77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92040" y="2569464"/>
            <a:ext cx="475488" cy="475488"/>
          </a:xfrm>
          <a:prstGeom prst="ellipse">
            <a:avLst/>
          </a:prstGeom>
          <a:solidFill>
            <a:srgbClr val="1B9C77"/>
          </a:solidFill>
          <a:ln w="12700">
            <a:solidFill>
              <a:srgbClr val="1B9C77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63347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04688" y="2423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Настроена автоматическая инициализация схемы БД при каждом запуске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274320" y="3474720"/>
            <a:ext cx="4160520" cy="960120"/>
          </a:xfrm>
          <a:prstGeom prst="rect">
            <a:avLst/>
          </a:prstGeom>
          <a:solidFill>
            <a:srgbClr val="1A2C42"/>
          </a:solidFill>
          <a:ln w="12700">
            <a:solidFill>
              <a:srgbClr val="1B9C77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11480" y="3712464"/>
            <a:ext cx="475488" cy="475488"/>
          </a:xfrm>
          <a:prstGeom prst="ellipse">
            <a:avLst/>
          </a:prstGeom>
          <a:solidFill>
            <a:srgbClr val="1B9C77"/>
          </a:solidFill>
          <a:ln w="12700">
            <a:solidFill>
              <a:srgbClr val="1B9C77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776472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24128" y="3566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собирается и запускается одной командой — mvn spring-boot:run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754880" y="3474720"/>
            <a:ext cx="4160520" cy="960120"/>
          </a:xfrm>
          <a:prstGeom prst="rect">
            <a:avLst/>
          </a:prstGeom>
          <a:solidFill>
            <a:srgbClr val="1A2C42"/>
          </a:solidFill>
          <a:ln w="12700">
            <a:solidFill>
              <a:srgbClr val="1B9C77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892040" y="3712464"/>
            <a:ext cx="475488" cy="475488"/>
          </a:xfrm>
          <a:prstGeom prst="ellipse">
            <a:avLst/>
          </a:prstGeom>
          <a:solidFill>
            <a:srgbClr val="1B9C77"/>
          </a:solidFill>
          <a:ln w="12700">
            <a:solidFill>
              <a:srgbClr val="1B9C77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776472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504688" y="3566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готова к расширению: REST API, веб-интерфейс, авторизация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9C77"/>
          </a:solidFill>
          <a:ln w="12700">
            <a:solidFill>
              <a:srgbClr val="1B9C77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«Аптечный склад»  ·  Java 17 + Spring Boot 3.2 + JDBC + MySQL  ·  Дипломный проект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2026-06-17T11:03:17Z</dcterms:created>
  <dcterms:modified xsi:type="dcterms:W3CDTF">2026-06-17T11:03:17Z</dcterms:modified>
</cp:coreProperties>
</file>